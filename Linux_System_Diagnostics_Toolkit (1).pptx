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9"/>
    <p:sldId id="269" r:id="rId2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
  <Relationship Id="rId20" Type="http://schemas.openxmlformats.org/officeDocument/2006/relationships/slide" Target="slides/slide14.xml"/>
  
  
  
  
  
  
  
  
  
  
  
  
  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EC4D6"/>
          </a:solidFill>
          <a:ln w="12700">
            <a:solidFill>
              <a:srgbClr val="2EC4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9209" y="1130411"/>
            <a:ext cx="7536075" cy="55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79209" y="1741671"/>
            <a:ext cx="7536075" cy="55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TOOLKIT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95956" y="2553892"/>
            <a:ext cx="6698734" cy="669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troubleshooting shell for monitoring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diagnosing Linux system resources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95475" y="3885266"/>
            <a:ext cx="1984500" cy="510778"/>
          </a:xfrm>
          <a:prstGeom prst="roundRect">
            <a:avLst>
              <a:gd name="adj" fmla="val 17902"/>
            </a:avLst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475" y="3885266"/>
            <a:ext cx="1984500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8728" y="4747727"/>
            <a:ext cx="10642613" cy="1842152"/>
          </a:xfrm>
          <a:prstGeom prst="roundRect">
            <a:avLst>
              <a:gd name="adj" fmla="val 14891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00569" y="4940316"/>
          <a:ext cx="5024050" cy="914400"/>
        </p:xfrm>
        <a:graphic>
          <a:graphicData uri="http://schemas.openxmlformats.org/drawingml/2006/table">
            <a:tbl>
              <a:tblPr/>
              <a:tblGrid>
                <a:gridCol w="2512025"/>
                <a:gridCol w="2512025"/>
              </a:tblGrid>
              <a:tr h="334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Harshil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9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2510030370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94A"/>
                    </a:solidFill>
                  </a:tcPr>
                </a:tc>
              </a:tr>
              <a:tr h="334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M.SAI VARUN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9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2510030021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94A"/>
                    </a:solidFill>
                  </a:tcPr>
                </a:tc>
              </a:tr>
              <a:tr h="334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MOHAMMED AFFAN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9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2510030366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94A"/>
                    </a:solidFill>
                  </a:tcPr>
                </a:tc>
              </a:tr>
              <a:tr h="3349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PAVAN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9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2510030027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829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6620" y="351684"/>
            <a:ext cx="7536075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3367" y="937823"/>
            <a:ext cx="837341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command-line tool for checking important Linux system resources.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885442" y="435418"/>
            <a:ext cx="58613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5442" y="6430784"/>
            <a:ext cx="66987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9873" y="1423481"/>
            <a:ext cx="3533582" cy="1875645"/>
          </a:xfrm>
          <a:prstGeom prst="roundRect">
            <a:avLst>
              <a:gd name="adj" fmla="val 1218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6380" y="1423481"/>
            <a:ext cx="66987" cy="1875645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21076" y="1607696"/>
            <a:ext cx="3114911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21076" y="2026367"/>
            <a:ext cx="3114911" cy="1105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CPU, RAM, disk, process, uptime and network information.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70924" y="1423481"/>
            <a:ext cx="3533582" cy="1875645"/>
          </a:xfrm>
          <a:prstGeom prst="roundRect">
            <a:avLst>
              <a:gd name="adj" fmla="val 1218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7430" y="1423481"/>
            <a:ext cx="66987" cy="1875645"/>
          </a:xfrm>
          <a:prstGeom prst="rect">
            <a:avLst/>
          </a:prstGeom>
          <a:solidFill>
            <a:srgbClr val="2EC4D6"/>
          </a:solidFill>
          <a:ln w="12700">
            <a:solidFill>
              <a:srgbClr val="2EC4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22126" y="1607696"/>
            <a:ext cx="3114911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22126" y="2026367"/>
            <a:ext cx="3114911" cy="1105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basic resource problems using configurable warning thresholds.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71974" y="1423481"/>
            <a:ext cx="3533582" cy="1875645"/>
          </a:xfrm>
          <a:prstGeom prst="roundRect">
            <a:avLst>
              <a:gd name="adj" fmla="val 1218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38480" y="1423481"/>
            <a:ext cx="66987" cy="1875645"/>
          </a:xfrm>
          <a:prstGeom prst="rect">
            <a:avLst/>
          </a:prstGeom>
          <a:solidFill>
            <a:srgbClr val="3DBE7E"/>
          </a:solidFill>
          <a:ln w="12700">
            <a:solidFill>
              <a:srgbClr val="3DBE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3177" y="1607696"/>
            <a:ext cx="3114911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23177" y="2026367"/>
            <a:ext cx="3114911" cy="1105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collected information into a readable diagnostic report.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78728" y="3851772"/>
            <a:ext cx="3349367" cy="267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78728" y="4270443"/>
            <a:ext cx="10466771" cy="83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using many separate Linux commands, the user interacts with one integrated toolkit.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6620" y="351684"/>
            <a:ext cx="7536075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3367" y="937823"/>
            <a:ext cx="837341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integrated diagnostics toolkit is useful.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885442" y="435418"/>
            <a:ext cx="58613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5442" y="6430784"/>
            <a:ext cx="66987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20114" y="1373240"/>
            <a:ext cx="5275253" cy="4387671"/>
          </a:xfrm>
          <a:prstGeom prst="roundRect">
            <a:avLst>
              <a:gd name="adj" fmla="val 5210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6620" y="1373240"/>
            <a:ext cx="66987" cy="4387671"/>
          </a:xfrm>
          <a:prstGeom prst="rect">
            <a:avLst/>
          </a:prstGeom>
          <a:solidFill>
            <a:srgbClr val="E85A5A"/>
          </a:solidFill>
          <a:ln w="12700">
            <a:solidFill>
              <a:srgbClr val="E85A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1316" y="1557456"/>
            <a:ext cx="4856582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71316" y="1976126"/>
            <a:ext cx="4856582" cy="3617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commands are needed for different resources.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information may be spread across system interfaces and utilities.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may find troubleshooting commands difficult to remember.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single, simple view of the system's current condition.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63316" y="1373240"/>
            <a:ext cx="5275253" cy="4387671"/>
          </a:xfrm>
          <a:prstGeom prst="roundRect">
            <a:avLst>
              <a:gd name="adj" fmla="val 5210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29822" y="1373240"/>
            <a:ext cx="66987" cy="4387671"/>
          </a:xfrm>
          <a:prstGeom prst="rect">
            <a:avLst/>
          </a:prstGeom>
          <a:solidFill>
            <a:srgbClr val="3DBE7E"/>
          </a:solidFill>
          <a:ln w="12700">
            <a:solidFill>
              <a:srgbClr val="3DBE7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4518" y="1557456"/>
            <a:ext cx="4856582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14518" y="1976126"/>
            <a:ext cx="4856582" cy="3617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command-line interface for common checks.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output for easier interpretation.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for high resource usage.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report generation for documentation.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6620" y="351684"/>
            <a:ext cx="7536075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3367" y="937823"/>
            <a:ext cx="837341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aims to achieve.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885442" y="435418"/>
            <a:ext cx="58613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5442" y="6430784"/>
            <a:ext cx="66987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1740" y="1423481"/>
            <a:ext cx="3391234" cy="1775164"/>
          </a:xfrm>
          <a:prstGeom prst="roundRect">
            <a:avLst>
              <a:gd name="adj" fmla="val 1287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8247" y="1423481"/>
            <a:ext cx="66987" cy="177516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2943" y="1607696"/>
            <a:ext cx="2972563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Resource Monitoring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962943" y="2026367"/>
            <a:ext cx="2972563" cy="100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CPU, memory and disk usage.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463031" y="1423481"/>
            <a:ext cx="3391234" cy="1775164"/>
          </a:xfrm>
          <a:prstGeom prst="roundRect">
            <a:avLst>
              <a:gd name="adj" fmla="val 1287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9538" y="1423481"/>
            <a:ext cx="66987" cy="1775164"/>
          </a:xfrm>
          <a:prstGeom prst="rect">
            <a:avLst/>
          </a:prstGeom>
          <a:solidFill>
            <a:srgbClr val="2EC4D6"/>
          </a:solidFill>
          <a:ln w="12700">
            <a:solidFill>
              <a:srgbClr val="2EC4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14234" y="1607696"/>
            <a:ext cx="2972563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Process Inspection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714234" y="2026367"/>
            <a:ext cx="2972563" cy="100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running processes and process IDs.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14322" y="1423481"/>
            <a:ext cx="3391234" cy="1775164"/>
          </a:xfrm>
          <a:prstGeom prst="roundRect">
            <a:avLst>
              <a:gd name="adj" fmla="val 1287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0828" y="1423481"/>
            <a:ext cx="66987" cy="1775164"/>
          </a:xfrm>
          <a:prstGeom prst="rect">
            <a:avLst/>
          </a:prstGeom>
          <a:solidFill>
            <a:srgbClr val="3DBE7E"/>
          </a:solidFill>
          <a:ln w="12700">
            <a:solidFill>
              <a:srgbClr val="3DBE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65525" y="1607696"/>
            <a:ext cx="2972563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System Information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65525" y="2026367"/>
            <a:ext cx="2972563" cy="100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uptime, users and network details.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11740" y="3567076"/>
            <a:ext cx="3391234" cy="1775164"/>
          </a:xfrm>
          <a:prstGeom prst="roundRect">
            <a:avLst>
              <a:gd name="adj" fmla="val 1287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8247" y="3567076"/>
            <a:ext cx="66987" cy="1775164"/>
          </a:xfrm>
          <a:prstGeom prst="rect">
            <a:avLst/>
          </a:prstGeom>
          <a:solidFill>
            <a:srgbClr val="F5A340"/>
          </a:solidFill>
          <a:ln w="12700">
            <a:solidFill>
              <a:srgbClr val="F5A3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2943" y="3751291"/>
            <a:ext cx="2972563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Problem Detection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62943" y="4169962"/>
            <a:ext cx="2972563" cy="100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 usage and low available resources.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463031" y="3567076"/>
            <a:ext cx="3391234" cy="1775164"/>
          </a:xfrm>
          <a:prstGeom prst="roundRect">
            <a:avLst>
              <a:gd name="adj" fmla="val 1287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29538" y="3567076"/>
            <a:ext cx="66987" cy="177516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14234" y="3751291"/>
            <a:ext cx="2972563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Reporting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714234" y="4169962"/>
            <a:ext cx="2972563" cy="1004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consolidated diagnostic report.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6620" y="351684"/>
            <a:ext cx="7536075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3367" y="937823"/>
            <a:ext cx="837341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modules planned for the toolkit.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885442" y="435418"/>
            <a:ext cx="58613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5442" y="6430784"/>
            <a:ext cx="66987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9873" y="1339747"/>
            <a:ext cx="2512025" cy="1909139"/>
          </a:xfrm>
          <a:prstGeom prst="roundRect">
            <a:avLst>
              <a:gd name="adj" fmla="val 11974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6380" y="1339747"/>
            <a:ext cx="66987" cy="1909139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21076" y="1523962"/>
            <a:ext cx="2093354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21076" y="1942633"/>
            <a:ext cx="2093354" cy="113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and processor details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00088" y="1339747"/>
            <a:ext cx="2512025" cy="1909139"/>
          </a:xfrm>
          <a:prstGeom prst="roundRect">
            <a:avLst>
              <a:gd name="adj" fmla="val 11974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66595" y="1339747"/>
            <a:ext cx="66987" cy="1909139"/>
          </a:xfrm>
          <a:prstGeom prst="rect">
            <a:avLst/>
          </a:prstGeom>
          <a:solidFill>
            <a:srgbClr val="2EC4D6"/>
          </a:solidFill>
          <a:ln w="12700">
            <a:solidFill>
              <a:srgbClr val="2EC4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51291" y="1523962"/>
            <a:ext cx="2093354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751291" y="1942633"/>
            <a:ext cx="2093354" cy="113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used and available RAM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30303" y="1339747"/>
            <a:ext cx="2512025" cy="1909139"/>
          </a:xfrm>
          <a:prstGeom prst="roundRect">
            <a:avLst>
              <a:gd name="adj" fmla="val 11974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6810" y="1339747"/>
            <a:ext cx="66987" cy="1909139"/>
          </a:xfrm>
          <a:prstGeom prst="rect">
            <a:avLst/>
          </a:prstGeom>
          <a:solidFill>
            <a:srgbClr val="3DBE7E"/>
          </a:solidFill>
          <a:ln w="12700">
            <a:solidFill>
              <a:srgbClr val="3DBE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1506" y="1523962"/>
            <a:ext cx="2093354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81506" y="1942633"/>
            <a:ext cx="2093354" cy="113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usage and free space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60518" y="1339747"/>
            <a:ext cx="2512025" cy="1909139"/>
          </a:xfrm>
          <a:prstGeom prst="roundRect">
            <a:avLst>
              <a:gd name="adj" fmla="val 11974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27025" y="1339747"/>
            <a:ext cx="66987" cy="1909139"/>
          </a:xfrm>
          <a:prstGeom prst="rect">
            <a:avLst/>
          </a:prstGeom>
          <a:solidFill>
            <a:srgbClr val="F5A340"/>
          </a:solidFill>
          <a:ln w="12700">
            <a:solidFill>
              <a:srgbClr val="F5A3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11721" y="1523962"/>
            <a:ext cx="2093354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411721" y="1942633"/>
            <a:ext cx="2093354" cy="113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PID, name and process status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9873" y="3684303"/>
            <a:ext cx="2512025" cy="1909139"/>
          </a:xfrm>
          <a:prstGeom prst="roundRect">
            <a:avLst>
              <a:gd name="adj" fmla="val 11974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6380" y="3684303"/>
            <a:ext cx="66987" cy="1909139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1076" y="3868519"/>
            <a:ext cx="2093354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1076" y="4287190"/>
            <a:ext cx="2093354" cy="113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network/interface details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00088" y="3684303"/>
            <a:ext cx="2512025" cy="1909139"/>
          </a:xfrm>
          <a:prstGeom prst="roundRect">
            <a:avLst>
              <a:gd name="adj" fmla="val 11974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66595" y="3684303"/>
            <a:ext cx="66987" cy="1909139"/>
          </a:xfrm>
          <a:prstGeom prst="rect">
            <a:avLst/>
          </a:prstGeom>
          <a:solidFill>
            <a:srgbClr val="2EC4D6"/>
          </a:solidFill>
          <a:ln w="12700">
            <a:solidFill>
              <a:srgbClr val="2EC4D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751291" y="3868519"/>
            <a:ext cx="2093354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3751291" y="4287190"/>
            <a:ext cx="2093354" cy="113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since system startup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30303" y="3684303"/>
            <a:ext cx="2512025" cy="1909139"/>
          </a:xfrm>
          <a:prstGeom prst="roundRect">
            <a:avLst>
              <a:gd name="adj" fmla="val 11974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96810" y="3684303"/>
            <a:ext cx="66987" cy="1909139"/>
          </a:xfrm>
          <a:prstGeom prst="rect">
            <a:avLst/>
          </a:prstGeom>
          <a:solidFill>
            <a:srgbClr val="E85A5A"/>
          </a:solidFill>
          <a:ln w="12700">
            <a:solidFill>
              <a:srgbClr val="E85A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1506" y="3868519"/>
            <a:ext cx="2093354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6581506" y="4287190"/>
            <a:ext cx="2093354" cy="113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based on thresholds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160518" y="3684303"/>
            <a:ext cx="2512025" cy="1909139"/>
          </a:xfrm>
          <a:prstGeom prst="roundRect">
            <a:avLst>
              <a:gd name="adj" fmla="val 11974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27025" y="3684303"/>
            <a:ext cx="66987" cy="1909139"/>
          </a:xfrm>
          <a:prstGeom prst="rect">
            <a:avLst/>
          </a:prstGeom>
          <a:solidFill>
            <a:srgbClr val="3DBE7E"/>
          </a:solidFill>
          <a:ln w="12700">
            <a:solidFill>
              <a:srgbClr val="3DBE7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411721" y="3868519"/>
            <a:ext cx="2093354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9411721" y="4287190"/>
            <a:ext cx="2093354" cy="113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collected information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6620" y="351684"/>
            <a:ext cx="7536075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3367" y="937823"/>
            <a:ext cx="837341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user command to diagnostic result.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885442" y="435418"/>
            <a:ext cx="58613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5442" y="6430784"/>
            <a:ext cx="66987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405" y="1925886"/>
            <a:ext cx="1925886" cy="2059861"/>
          </a:xfrm>
          <a:prstGeom prst="roundRect">
            <a:avLst>
              <a:gd name="adj" fmla="val 11870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8487" y="2110101"/>
            <a:ext cx="837342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28487" y="2595759"/>
            <a:ext cx="1507215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Command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28487" y="3248886"/>
            <a:ext cx="1549082" cy="58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memory / disk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428291" y="2662747"/>
            <a:ext cx="410297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2834402" y="1925886"/>
            <a:ext cx="1925886" cy="2059861"/>
          </a:xfrm>
          <a:prstGeom prst="roundRect">
            <a:avLst>
              <a:gd name="adj" fmla="val 11870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0484" y="2110101"/>
            <a:ext cx="837342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060484" y="2595759"/>
            <a:ext cx="1507215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Handler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060484" y="3248886"/>
            <a:ext cx="1549082" cy="58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requested module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760288" y="2662747"/>
            <a:ext cx="410297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166398" y="1925886"/>
            <a:ext cx="1925886" cy="2059861"/>
          </a:xfrm>
          <a:prstGeom prst="roundRect">
            <a:avLst>
              <a:gd name="adj" fmla="val 11870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92481" y="2110101"/>
            <a:ext cx="837342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392481" y="2595759"/>
            <a:ext cx="1507215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92481" y="3248886"/>
            <a:ext cx="1549082" cy="58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Linux system information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92284" y="2662747"/>
            <a:ext cx="410297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498395" y="1925886"/>
            <a:ext cx="1925886" cy="2059861"/>
          </a:xfrm>
          <a:prstGeom prst="roundRect">
            <a:avLst>
              <a:gd name="adj" fmla="val 11870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24477" y="2110101"/>
            <a:ext cx="837342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724477" y="2595759"/>
            <a:ext cx="1507215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724477" y="3248886"/>
            <a:ext cx="1549082" cy="58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data + checks thresholds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424281" y="2662747"/>
            <a:ext cx="410297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9830392" y="1925886"/>
            <a:ext cx="1925886" cy="2059861"/>
          </a:xfrm>
          <a:prstGeom prst="roundRect">
            <a:avLst>
              <a:gd name="adj" fmla="val 11870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56474" y="2110101"/>
            <a:ext cx="837342" cy="334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10056474" y="2595759"/>
            <a:ext cx="1507215" cy="452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0056474" y="3248886"/>
            <a:ext cx="1549082" cy="586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result or saves report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6620" y="351684"/>
            <a:ext cx="7536075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Alerts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3367" y="937823"/>
            <a:ext cx="837341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system information into useful warnings.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885442" y="435418"/>
            <a:ext cx="58613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5442" y="6430784"/>
            <a:ext cx="66987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1740" y="1423481"/>
            <a:ext cx="3433101" cy="3382860"/>
          </a:xfrm>
          <a:prstGeom prst="roundRect">
            <a:avLst>
              <a:gd name="adj" fmla="val 675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8247" y="1423481"/>
            <a:ext cx="66987" cy="3382860"/>
          </a:xfrm>
          <a:prstGeom prst="rect">
            <a:avLst/>
          </a:prstGeom>
          <a:solidFill>
            <a:srgbClr val="3DBE7E"/>
          </a:solidFill>
          <a:ln w="12700">
            <a:solidFill>
              <a:srgbClr val="3DBE7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2943" y="1607696"/>
            <a:ext cx="3014430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62943" y="2009620"/>
            <a:ext cx="2930696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Usage: 58%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62943" y="2553892"/>
            <a:ext cx="2930696" cy="1674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Resource usage is within the configured range.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412791" y="1423481"/>
            <a:ext cx="3433101" cy="3382860"/>
          </a:xfrm>
          <a:prstGeom prst="roundRect">
            <a:avLst>
              <a:gd name="adj" fmla="val 675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9297" y="1423481"/>
            <a:ext cx="66987" cy="3382860"/>
          </a:xfrm>
          <a:prstGeom prst="rect">
            <a:avLst/>
          </a:prstGeom>
          <a:solidFill>
            <a:srgbClr val="F5A340"/>
          </a:solidFill>
          <a:ln w="12700">
            <a:solidFill>
              <a:srgbClr val="F5A3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993" y="1607696"/>
            <a:ext cx="3014430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63993" y="2009620"/>
            <a:ext cx="2930696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Usage: 92%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663993" y="2553892"/>
            <a:ext cx="2930696" cy="1674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High memory usage detected.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checking running processes.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113841" y="1423481"/>
            <a:ext cx="3433101" cy="3382860"/>
          </a:xfrm>
          <a:prstGeom prst="roundRect">
            <a:avLst>
              <a:gd name="adj" fmla="val 6758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80347" y="1423481"/>
            <a:ext cx="66987" cy="3382860"/>
          </a:xfrm>
          <a:prstGeom prst="rect">
            <a:avLst/>
          </a:prstGeom>
          <a:solidFill>
            <a:srgbClr val="E85A5A"/>
          </a:solidFill>
          <a:ln w="12700">
            <a:solidFill>
              <a:srgbClr val="E85A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5044" y="1607696"/>
            <a:ext cx="3014430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65044" y="2009620"/>
            <a:ext cx="2930696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Usage: 97%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365044" y="2553892"/>
            <a:ext cx="2930696" cy="1674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Very low free space.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should remove or move unnecessary files.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37342" y="5233386"/>
            <a:ext cx="10517012" cy="251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values can be configured according to the project requirements.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6620" y="351684"/>
            <a:ext cx="7536075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Report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3367" y="937823"/>
            <a:ext cx="837341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consolidated record of the system condition.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885442" y="435418"/>
            <a:ext cx="58613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5442" y="6430784"/>
            <a:ext cx="66987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21076" y="1256013"/>
            <a:ext cx="10341170" cy="4521645"/>
          </a:xfrm>
          <a:prstGeom prst="roundRect">
            <a:avLst>
              <a:gd name="adj" fmla="val 6067"/>
            </a:avLst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23481" y="1590949"/>
            <a:ext cx="9210759" cy="3768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LINUX DIAGNOSTIC REPORT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Usage        : 34%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Usage     : 62%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 Usage       : 71%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Processes: 126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Uptime    : 04:21:16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critical issues detected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 by: Linux System Diagnostics Toolkit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6620" y="351684"/>
            <a:ext cx="7536075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3367" y="937823"/>
            <a:ext cx="837341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environment used for implementation.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885442" y="435418"/>
            <a:ext cx="58613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5442" y="6430784"/>
            <a:ext cx="66987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0354" y="1373240"/>
            <a:ext cx="2470158" cy="2009620"/>
          </a:xfrm>
          <a:prstGeom prst="roundRect">
            <a:avLst>
              <a:gd name="adj" fmla="val 11375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861" y="1373240"/>
            <a:ext cx="66987" cy="2009620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1557" y="1557456"/>
            <a:ext cx="2051487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21557" y="1976126"/>
            <a:ext cx="2051487" cy="1239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 language for system-level programming.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66595" y="1373240"/>
            <a:ext cx="2470158" cy="2009620"/>
          </a:xfrm>
          <a:prstGeom prst="roundRect">
            <a:avLst>
              <a:gd name="adj" fmla="val 11375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33101" y="1373240"/>
            <a:ext cx="66987" cy="2009620"/>
          </a:xfrm>
          <a:prstGeom prst="rect">
            <a:avLst/>
          </a:prstGeom>
          <a:solidFill>
            <a:srgbClr val="2EC4D6"/>
          </a:solidFill>
          <a:ln w="12700">
            <a:solidFill>
              <a:srgbClr val="2EC4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17797" y="1557456"/>
            <a:ext cx="2051487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Ubuntu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717797" y="1976126"/>
            <a:ext cx="2051487" cy="1239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operating environment for the toolkit.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62835" y="1373240"/>
            <a:ext cx="2470158" cy="2009620"/>
          </a:xfrm>
          <a:prstGeom prst="roundRect">
            <a:avLst>
              <a:gd name="adj" fmla="val 11375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9341" y="1373240"/>
            <a:ext cx="66987" cy="2009620"/>
          </a:xfrm>
          <a:prstGeom prst="rect">
            <a:avLst/>
          </a:prstGeom>
          <a:solidFill>
            <a:srgbClr val="3DBE7E"/>
          </a:solidFill>
          <a:ln w="12700">
            <a:solidFill>
              <a:srgbClr val="3DBE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4037" y="1557456"/>
            <a:ext cx="2051487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14037" y="1976126"/>
            <a:ext cx="2051487" cy="1239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used to build the C application.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59075" y="1373240"/>
            <a:ext cx="2470158" cy="2009620"/>
          </a:xfrm>
          <a:prstGeom prst="roundRect">
            <a:avLst>
              <a:gd name="adj" fmla="val 11375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5582" y="1373240"/>
            <a:ext cx="66987" cy="2009620"/>
          </a:xfrm>
          <a:prstGeom prst="rect">
            <a:avLst/>
          </a:prstGeom>
          <a:solidFill>
            <a:srgbClr val="F5A340"/>
          </a:solidFill>
          <a:ln w="12700">
            <a:solidFill>
              <a:srgbClr val="F5A3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10278" y="1557456"/>
            <a:ext cx="2051487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110278" y="1976126"/>
            <a:ext cx="2051487" cy="1239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source-code editing environment.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6620" y="351684"/>
            <a:ext cx="7536075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3367" y="937823"/>
            <a:ext cx="837341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completed system should demonstrate.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885442" y="435418"/>
            <a:ext cx="58613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5442" y="6430784"/>
            <a:ext cx="66987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20114" y="1323000"/>
            <a:ext cx="7619810" cy="3550329"/>
          </a:xfrm>
          <a:prstGeom prst="roundRect">
            <a:avLst>
              <a:gd name="adj" fmla="val 6439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6620" y="1323000"/>
            <a:ext cx="66987" cy="3550329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1316" y="1507215"/>
            <a:ext cx="7201139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Output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71316" y="1925886"/>
            <a:ext cx="7201139" cy="277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command-line diagnostics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 and disk monitoring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and system information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network details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warnings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6620" y="351684"/>
            <a:ext cx="7536075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03367" y="937823"/>
            <a:ext cx="8373417" cy="21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the proposed solution.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885442" y="435418"/>
            <a:ext cx="586139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85442" y="6430784"/>
            <a:ext cx="669873" cy="16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364867" y="1465348"/>
            <a:ext cx="9880632" cy="50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toolkit. Multiple diagnostics. Clear system insight.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364867" y="2512025"/>
            <a:ext cx="9880632" cy="184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provides a centralized interface for common Linux diagnostics.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demonstrates practical Operating Systems concepts through system monitoring.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modular structure supports incremental development and future extensions.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toolkit can assist users in identifying basic resource-related problems.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734"/>
          </a:xfrm>
          <a:prstGeom prst="rect">
            <a:avLst/>
          </a:prstGeom>
          <a:solidFill>
            <a:srgbClr val="2EC4D6"/>
          </a:solidFill>
          <a:ln w="12700">
            <a:solidFill>
              <a:srgbClr val="2EC4D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2135221"/>
            <a:ext cx="12191695" cy="586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0" y="2997683"/>
            <a:ext cx="12191695" cy="351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 Diagnostics Toolkit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0" y="3684303"/>
            <a:ext cx="12191695" cy="30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 3"/>
          <p:cNvSpPr/>
          <p:nvPr/>
        </p:nvSpPr>
        <p:spPr>
          <a:xfrm>
            <a:off x="0" y="0"/>
            <a:ext cx="12191695" cy="83759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4" name="Title 4"/>
          <p:cNvSpPr txBox="1"/>
          <p:nvPr/>
        </p:nvSpPr>
        <p:spPr>
          <a:xfrm>
            <a:off x="685800" y="34747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Program Structure</a:t>
            </a:r>
            <a:endParaRPr lang="en-US" sz="3200" dirty="0"/>
          </a:p>
        </p:txBody>
      </p:sp>
      <p:sp>
        <p:nvSpPr>
          <p:cNvPr id="5" name="Subtitle 5"/>
          <p:cNvSpPr txBox="1"/>
          <p:nvPr/>
        </p:nvSpPr>
        <p:spPr>
          <a:xfrm>
            <a:off x="704088" y="941832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Headers, macros and functions used in the C source</a:t>
            </a:r>
            <a:endParaRPr lang="en-US" sz="1400" dirty="0"/>
          </a:p>
        </p:txBody>
      </p:sp>
      <p:sp>
        <p:nvSpPr>
          <p:cNvPr id="6" name="Tag 6"/>
          <p:cNvSpPr txBox="1"/>
          <p:nvPr/>
        </p:nvSpPr>
        <p:spPr>
          <a:xfrm>
            <a:off x="9966960" y="435254"/>
            <a:ext cx="1504188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WHAT WE USED</a:t>
            </a:r>
            <a:endParaRPr lang="en-US" sz="1000" dirty="0"/>
          </a:p>
        </p:txBody>
      </p:sp>
      <p:sp>
        <p:nvSpPr>
          <p:cNvPr id="7" name="PageNum 7"/>
          <p:cNvSpPr txBox="1"/>
          <p:nvPr/>
        </p:nvSpPr>
        <p:spPr>
          <a:xfrm>
            <a:off x="10885018" y="6430975"/>
            <a:ext cx="669889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10</a:t>
            </a:r>
            <a:endParaRPr lang="en-US" sz="1000" dirty="0"/>
          </a:p>
        </p:txBody>
      </p:sp>
      <p:sp>
        <p:nvSpPr>
          <p:cNvPr id="8" name="Card 8"/>
          <p:cNvSpPr/>
          <p:nvPr/>
        </p:nvSpPr>
        <p:spPr>
          <a:xfrm>
            <a:off x="685800" y="1417320"/>
            <a:ext cx="3657600" cy="4754880"/>
          </a:xfrm>
          <a:prstGeom prst="roundRect">
            <a:avLst>
              <a:gd name="adj" fmla="val 3500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9" name="Accent 9"/>
          <p:cNvSpPr/>
          <p:nvPr/>
        </p:nvSpPr>
        <p:spPr>
          <a:xfrm>
            <a:off x="649224" y="1417320"/>
            <a:ext cx="66751" cy="4754880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10" name="CardTitle 10"/>
          <p:cNvSpPr txBox="1"/>
          <p:nvPr/>
        </p:nvSpPr>
        <p:spPr>
          <a:xfrm>
            <a:off x="960120" y="15819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Header files</a:t>
            </a:r>
            <a:endParaRPr lang="en-US" sz="1800" dirty="0"/>
          </a:p>
        </p:txBody>
      </p:sp>
      <p:sp>
        <p:nvSpPr>
          <p:cNvPr id="11" name="CardBody 11"/>
          <p:cNvSpPr txBox="1"/>
          <p:nvPr/>
        </p:nvSpPr>
        <p:spPr>
          <a:xfrm>
            <a:off x="960120" y="2057400"/>
            <a:ext cx="31546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2EC4D6"/>
              </a:buClr>
              <a:buFont typeface="Arial"/>
              <a:buChar char="•"/>
            </a:pPr>
            <a:r>
              <a:rPr lang="en-US" sz="1400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&lt;stdio.h&gt;</a:t>
            </a:r>
            <a:r>
              <a:rPr lang="en-US" sz="14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– printf, scanf, fopen, fgets, fclose, fprintf, sscanf, fscanf, fflush, perror, getchar</a:t>
            </a:r>
            <a:endParaRPr lang="en-US" sz="1400" dirty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2EC4D6"/>
              </a:buClr>
              <a:buFont typeface="Arial"/>
              <a:buChar char="•"/>
            </a:pPr>
            <a:r>
              <a:rPr lang="en-US" sz="1400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&lt;stdlib.h&gt;</a:t>
            </a:r>
            <a:r>
              <a:rPr lang="en-US" sz="14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– system() to run shell commands</a:t>
            </a:r>
            <a:endParaRPr lang="en-US" sz="1400" dirty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2EC4D6"/>
              </a:buClr>
              <a:buFont typeface="Arial"/>
              <a:buChar char="•"/>
            </a:pPr>
            <a:r>
              <a:rPr lang="en-US" sz="1400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&lt;string.h&gt;</a:t>
            </a:r>
            <a:r>
              <a:rPr lang="en-US" sz="14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– strncmp, strcmp, strchr, strcpy, strcspn</a:t>
            </a:r>
            <a:endParaRPr lang="en-US" sz="1400" dirty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2EC4D6"/>
              </a:buClr>
              <a:buFont typeface="Arial"/>
              <a:buChar char="•"/>
            </a:pPr>
            <a:r>
              <a:rPr lang="en-US" sz="1400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&lt;unistd.h&gt;</a:t>
            </a:r>
            <a:r>
              <a:rPr lang="en-US" sz="14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– POSIX / Unix system API</a:t>
            </a:r>
            <a:endParaRPr lang="en-US" sz="1400" dirty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2EC4D6"/>
              </a:buClr>
              <a:buFont typeface="Arial"/>
              <a:buChar char="•"/>
            </a:pPr>
            <a:r>
              <a:rPr lang="en-US" sz="1400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&lt;sys/statvfs.h&gt;</a:t>
            </a:r>
            <a:r>
              <a:rPr lang="en-US" sz="14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– statvfs() for filesystem statistics</a:t>
            </a:r>
            <a:endParaRPr lang="en-US" sz="1400" dirty="0"/>
          </a:p>
          <a:p>
            <a:pPr marL="228600" indent="-228600">
              <a:spcBef>
                <a:spcPts val="0"/>
              </a:spcBef>
              <a:spcAft>
                <a:spcPts val="600"/>
              </a:spcAft>
              <a:buClr>
                <a:srgbClr val="2EC4D6"/>
              </a:buClr>
              <a:buFont typeface="Arial"/>
              <a:buChar char="•"/>
            </a:pPr>
            <a:r>
              <a:rPr lang="en-US" sz="1400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&lt;time.h&gt;</a:t>
            </a:r>
            <a:r>
              <a:rPr lang="en-US" sz="14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– time-related declarations</a:t>
            </a:r>
            <a:endParaRPr lang="en-US" sz="1400" dirty="0"/>
          </a:p>
        </p:txBody>
      </p:sp>
      <p:sp>
        <p:nvSpPr>
          <p:cNvPr id="12" name="Card 12"/>
          <p:cNvSpPr/>
          <p:nvPr/>
        </p:nvSpPr>
        <p:spPr>
          <a:xfrm>
            <a:off x="4526280" y="1417320"/>
            <a:ext cx="2697480" cy="4754880"/>
          </a:xfrm>
          <a:prstGeom prst="roundRect">
            <a:avLst>
              <a:gd name="adj" fmla="val 3500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3" name="Accent 13"/>
          <p:cNvSpPr/>
          <p:nvPr/>
        </p:nvSpPr>
        <p:spPr>
          <a:xfrm>
            <a:off x="4489704" y="1417320"/>
            <a:ext cx="66751" cy="4754880"/>
          </a:xfrm>
          <a:prstGeom prst="rect">
            <a:avLst/>
          </a:prstGeom>
          <a:solidFill>
            <a:srgbClr val="2EC4D6"/>
          </a:solidFill>
          <a:ln w="12700">
            <a:solidFill>
              <a:srgbClr val="2EC4D6"/>
            </a:solidFill>
            <a:prstDash val="solid"/>
          </a:ln>
        </p:spPr>
      </p:sp>
      <p:sp>
        <p:nvSpPr>
          <p:cNvPr id="14" name="CardTitle 14"/>
          <p:cNvSpPr txBox="1"/>
          <p:nvPr/>
        </p:nvSpPr>
        <p:spPr>
          <a:xfrm>
            <a:off x="4800600" y="15819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Macros</a:t>
            </a:r>
            <a:endParaRPr lang="en-US" sz="1800" dirty="0"/>
          </a:p>
        </p:txBody>
      </p:sp>
      <p:sp>
        <p:nvSpPr>
          <p:cNvPr id="15" name="CardBody 15"/>
          <p:cNvSpPr txBox="1"/>
          <p:nvPr/>
        </p:nvSpPr>
        <p:spPr>
          <a:xfrm>
            <a:off x="4800600" y="2057400"/>
            <a:ext cx="21945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9FB0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#define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3DB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CPU_WARNING</a:t>
            </a:r>
            <a:endParaRPr lang="en-US" sz="1400" dirty="0"/>
          </a:p>
          <a:p>
            <a:pPr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80.0</a:t>
            </a:r>
            <a:endParaRPr lang="en-US" sz="17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3DB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MEMORY_WARNING</a:t>
            </a:r>
            <a:endParaRPr lang="en-US" sz="1400" dirty="0"/>
          </a:p>
          <a:p>
            <a:pPr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80.0</a:t>
            </a:r>
            <a:endParaRPr lang="en-US" sz="17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3DBE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DISK_WARNING</a:t>
            </a:r>
            <a:endParaRPr lang="en-US" sz="1400" dirty="0"/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700" dirty="0">
                <a:solidFill>
                  <a:srgbClr val="DCE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80.0</a:t>
            </a:r>
            <a:endParaRPr lang="en-US" sz="17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Thresholds are in percent. Changing one value changes the alert limit everywhere it is used.</a:t>
            </a:r>
            <a:endParaRPr lang="en-US" sz="1400" dirty="0"/>
          </a:p>
        </p:txBody>
      </p:sp>
      <p:sp>
        <p:nvSpPr>
          <p:cNvPr id="16" name="Card 16"/>
          <p:cNvSpPr/>
          <p:nvPr/>
        </p:nvSpPr>
        <p:spPr>
          <a:xfrm>
            <a:off x="7406640" y="1417320"/>
            <a:ext cx="4251960" cy="4754880"/>
          </a:xfrm>
          <a:prstGeom prst="roundRect">
            <a:avLst>
              <a:gd name="adj" fmla="val 3500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7" name="Accent 17"/>
          <p:cNvSpPr/>
          <p:nvPr/>
        </p:nvSpPr>
        <p:spPr>
          <a:xfrm>
            <a:off x="7370064" y="1417320"/>
            <a:ext cx="66751" cy="4754880"/>
          </a:xfrm>
          <a:prstGeom prst="rect">
            <a:avLst/>
          </a:prstGeom>
          <a:solidFill>
            <a:srgbClr val="3DBE7E"/>
          </a:solidFill>
          <a:ln w="12700">
            <a:solidFill>
              <a:srgbClr val="3DBE7E"/>
            </a:solidFill>
            <a:prstDash val="solid"/>
          </a:ln>
        </p:spPr>
      </p:sp>
      <p:sp>
        <p:nvSpPr>
          <p:cNvPr id="18" name="CardTitle 18"/>
          <p:cNvSpPr txBox="1"/>
          <p:nvPr/>
        </p:nvSpPr>
        <p:spPr>
          <a:xfrm>
            <a:off x="7680960" y="158191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12 functions (modular design)</a:t>
            </a:r>
            <a:endParaRPr lang="en-US" sz="1800" dirty="0"/>
          </a:p>
        </p:txBody>
      </p:sp>
      <p:sp>
        <p:nvSpPr>
          <p:cNvPr id="19" name="CardBody 19"/>
          <p:cNvSpPr txBox="1"/>
          <p:nvPr/>
        </p:nvSpPr>
        <p:spPr>
          <a:xfrm>
            <a:off x="7680960" y="2057400"/>
            <a:ext cx="37490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0"/>
              </a:spcBef>
              <a:spcAft>
                <a:spcPts val="620"/>
              </a:spcAft>
              <a:buNone/>
            </a:pPr>
            <a:r>
              <a:rPr lang="en-US" sz="13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show_cpu()</a:t>
            </a: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CPU model, cores, usage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620"/>
              </a:spcAft>
              <a:buNone/>
            </a:pPr>
            <a:r>
              <a:rPr lang="en-US" sz="13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show_memory()</a:t>
            </a: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RAM total / used / free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620"/>
              </a:spcAft>
              <a:buNone/>
            </a:pPr>
            <a:r>
              <a:rPr lang="en-US" sz="13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show_disk()</a:t>
            </a: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Root filesystem usage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620"/>
              </a:spcAft>
              <a:buNone/>
            </a:pPr>
            <a:r>
              <a:rPr lang="en-US" sz="13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show_processes()</a:t>
            </a: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Running process list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620"/>
              </a:spcAft>
              <a:buNone/>
            </a:pPr>
            <a:r>
              <a:rPr lang="en-US" sz="13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show_network()</a:t>
            </a: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Interfaces and statistics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620"/>
              </a:spcAft>
              <a:buNone/>
            </a:pPr>
            <a:r>
              <a:rPr lang="en-US" sz="13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show_uptime()</a:t>
            </a: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Time since boot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620"/>
              </a:spcAft>
              <a:buNone/>
            </a:pPr>
            <a:r>
              <a:rPr lang="en-US" sz="13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show_system_info()</a:t>
            </a: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OS, kernel, host, users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620"/>
              </a:spcAft>
              <a:buNone/>
            </a:pPr>
            <a:r>
              <a:rPr lang="en-US" sz="13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show_alerts()</a:t>
            </a: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Threshold warnings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620"/>
              </a:spcAft>
              <a:buNone/>
            </a:pPr>
            <a:r>
              <a:rPr lang="en-US" sz="13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generate_report()</a:t>
            </a: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Write report file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620"/>
              </a:spcAft>
              <a:buNone/>
            </a:pPr>
            <a:r>
              <a:rPr lang="en-US" sz="13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show_all()</a:t>
            </a: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Run every module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620"/>
              </a:spcAft>
              <a:buNone/>
            </a:pPr>
            <a:r>
              <a:rPr lang="en-US" sz="13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menu()</a:t>
            </a: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Print the menu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620"/>
              </a:spcAft>
              <a:buNone/>
            </a:pPr>
            <a:r>
              <a:rPr lang="en-US" sz="13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main()</a:t>
            </a: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Input loop + dispatch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 3"/>
          <p:cNvSpPr/>
          <p:nvPr/>
        </p:nvSpPr>
        <p:spPr>
          <a:xfrm>
            <a:off x="0" y="0"/>
            <a:ext cx="12191695" cy="83759"/>
          </a:xfrm>
          <a:prstGeom prst="rect">
            <a:avLst/>
          </a:prstGeom>
          <a:solidFill>
            <a:srgbClr val="2EC4D6"/>
          </a:solidFill>
          <a:ln w="12700">
            <a:solidFill>
              <a:srgbClr val="2EC4D6"/>
            </a:solidFill>
            <a:prstDash val="solid"/>
          </a:ln>
        </p:spPr>
      </p:sp>
      <p:sp>
        <p:nvSpPr>
          <p:cNvPr id="4" name="Title 4"/>
          <p:cNvSpPr txBox="1"/>
          <p:nvPr/>
        </p:nvSpPr>
        <p:spPr>
          <a:xfrm>
            <a:off x="685800" y="34747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Linux Interfaces Used</a:t>
            </a:r>
            <a:endParaRPr lang="en-US" sz="3200" dirty="0"/>
          </a:p>
        </p:txBody>
      </p:sp>
      <p:sp>
        <p:nvSpPr>
          <p:cNvPr id="5" name="Subtitle 5"/>
          <p:cNvSpPr txBox="1"/>
          <p:nvPr/>
        </p:nvSpPr>
        <p:spPr>
          <a:xfrm>
            <a:off x="704088" y="941832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Where the data comes from: /proc files, system calls and shell commands</a:t>
            </a:r>
            <a:endParaRPr lang="en-US" sz="1400" dirty="0"/>
          </a:p>
        </p:txBody>
      </p:sp>
      <p:sp>
        <p:nvSpPr>
          <p:cNvPr id="6" name="Tag 6"/>
          <p:cNvSpPr txBox="1"/>
          <p:nvPr/>
        </p:nvSpPr>
        <p:spPr>
          <a:xfrm>
            <a:off x="9966960" y="435254"/>
            <a:ext cx="1504188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WHAT WE USED</a:t>
            </a:r>
            <a:endParaRPr lang="en-US" sz="1000" dirty="0"/>
          </a:p>
        </p:txBody>
      </p:sp>
      <p:sp>
        <p:nvSpPr>
          <p:cNvPr id="7" name="PageNum 7"/>
          <p:cNvSpPr txBox="1"/>
          <p:nvPr/>
        </p:nvSpPr>
        <p:spPr>
          <a:xfrm>
            <a:off x="10885018" y="6430975"/>
            <a:ext cx="669889" cy="167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11</a:t>
            </a:r>
            <a:endParaRPr lang="en-US" sz="1000" dirty="0"/>
          </a:p>
        </p:txBody>
      </p:sp>
      <p:sp>
        <p:nvSpPr>
          <p:cNvPr id="8" name="Card 8"/>
          <p:cNvSpPr/>
          <p:nvPr/>
        </p:nvSpPr>
        <p:spPr>
          <a:xfrm>
            <a:off x="685800" y="1417320"/>
            <a:ext cx="5029200" cy="3383280"/>
          </a:xfrm>
          <a:prstGeom prst="roundRect">
            <a:avLst>
              <a:gd name="adj" fmla="val 3500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9" name="Accent 9"/>
          <p:cNvSpPr/>
          <p:nvPr/>
        </p:nvSpPr>
        <p:spPr>
          <a:xfrm>
            <a:off x="649224" y="1417320"/>
            <a:ext cx="66751" cy="3383280"/>
          </a:xfrm>
          <a:prstGeom prst="rect">
            <a:avLst/>
          </a:prstGeom>
          <a:solidFill>
            <a:srgbClr val="2A6FD6"/>
          </a:solidFill>
          <a:ln w="12700">
            <a:solidFill>
              <a:srgbClr val="2A6FD6"/>
            </a:solidFill>
            <a:prstDash val="solid"/>
          </a:ln>
        </p:spPr>
      </p:sp>
      <p:sp>
        <p:nvSpPr>
          <p:cNvPr id="10" name="CardTitle 10"/>
          <p:cNvSpPr txBox="1"/>
          <p:nvPr/>
        </p:nvSpPr>
        <p:spPr>
          <a:xfrm>
            <a:off x="960120" y="158191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Kernel interfaces read in C</a:t>
            </a:r>
            <a:endParaRPr lang="en-US" sz="1800" dirty="0"/>
          </a:p>
        </p:txBody>
      </p:sp>
      <p:sp>
        <p:nvSpPr>
          <p:cNvPr id="11" name="CardBody 11"/>
          <p:cNvSpPr txBox="1"/>
          <p:nvPr/>
        </p:nvSpPr>
        <p:spPr>
          <a:xfrm>
            <a:off x="960120" y="2057400"/>
            <a:ext cx="4526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/proc/cpuinfo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CPU model name and processor count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/proc/meminfo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MemTotal and MemAvailable (kB)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/proc/uptime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Seconds since system boot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statvfs("/")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Block counts and block size of root filesystem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/proc/net/dev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Per-interface network counters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diagnostic_report.txt</a:t>
            </a:r>
            <a:endParaRPr lang="en-US" sz="13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Output file created with fopen(..., "w")</a:t>
            </a:r>
            <a:endParaRPr lang="en-US" sz="1200" dirty="0"/>
          </a:p>
        </p:txBody>
      </p:sp>
      <p:sp>
        <p:nvSpPr>
          <p:cNvPr id="12" name="Card 12"/>
          <p:cNvSpPr/>
          <p:nvPr/>
        </p:nvSpPr>
        <p:spPr>
          <a:xfrm>
            <a:off x="685800" y="4983480"/>
            <a:ext cx="5029200" cy="1188720"/>
          </a:xfrm>
          <a:prstGeom prst="roundRect">
            <a:avLst>
              <a:gd name="adj" fmla="val 3500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3" name="Accent 13"/>
          <p:cNvSpPr/>
          <p:nvPr/>
        </p:nvSpPr>
        <p:spPr>
          <a:xfrm>
            <a:off x="649224" y="4983480"/>
            <a:ext cx="66751" cy="1188720"/>
          </a:xfrm>
          <a:prstGeom prst="rect">
            <a:avLst/>
          </a:prstGeom>
          <a:solidFill>
            <a:srgbClr val="3DBE7E"/>
          </a:solidFill>
          <a:ln w="12700">
            <a:solidFill>
              <a:srgbClr val="3DBE7E"/>
            </a:solidFill>
            <a:prstDash val="solid"/>
          </a:ln>
        </p:spPr>
      </p:sp>
      <p:sp>
        <p:nvSpPr>
          <p:cNvPr id="14" name="CardTitle 14"/>
          <p:cNvSpPr txBox="1"/>
          <p:nvPr/>
        </p:nvSpPr>
        <p:spPr>
          <a:xfrm>
            <a:off x="960120" y="51480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 library functions</a:t>
            </a:r>
            <a:endParaRPr lang="en-US" sz="1600" dirty="0"/>
          </a:p>
        </p:txBody>
      </p:sp>
      <p:sp>
        <p:nvSpPr>
          <p:cNvPr id="15" name="CardBody 15"/>
          <p:cNvSpPr txBox="1"/>
          <p:nvPr/>
        </p:nvSpPr>
        <p:spPr>
          <a:xfrm>
            <a:off x="960120" y="56235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fopen · fgets · fclose · sscanf · fscanf · fprintf · printf · scanf · perror · fflush · getchar · system · strncmp · strcmp · strchr · strcpy · strcspn</a:t>
            </a:r>
            <a:endParaRPr lang="en-US" sz="1200" dirty="0"/>
          </a:p>
        </p:txBody>
      </p:sp>
      <p:sp>
        <p:nvSpPr>
          <p:cNvPr id="16" name="Card 16"/>
          <p:cNvSpPr/>
          <p:nvPr/>
        </p:nvSpPr>
        <p:spPr>
          <a:xfrm>
            <a:off x="5897880" y="1417320"/>
            <a:ext cx="5760720" cy="4754880"/>
          </a:xfrm>
          <a:prstGeom prst="roundRect">
            <a:avLst>
              <a:gd name="adj" fmla="val 3500"/>
            </a:avLst>
          </a:prstGeom>
          <a:solidFill>
            <a:srgbClr val="18294A"/>
          </a:solidFill>
          <a:ln w="12700">
            <a:solidFill>
              <a:srgbClr val="18294A"/>
            </a:solidFill>
            <a:prstDash val="solid"/>
          </a:ln>
        </p:spPr>
      </p:sp>
      <p:sp>
        <p:nvSpPr>
          <p:cNvPr id="17" name="Accent 17"/>
          <p:cNvSpPr/>
          <p:nvPr/>
        </p:nvSpPr>
        <p:spPr>
          <a:xfrm>
            <a:off x="5861304" y="1417320"/>
            <a:ext cx="66751" cy="4754880"/>
          </a:xfrm>
          <a:prstGeom prst="rect">
            <a:avLst/>
          </a:prstGeom>
          <a:solidFill>
            <a:srgbClr val="F5A340"/>
          </a:solidFill>
          <a:ln w="12700">
            <a:solidFill>
              <a:srgbClr val="F5A340"/>
            </a:solidFill>
            <a:prstDash val="solid"/>
          </a:ln>
        </p:spPr>
      </p:sp>
      <p:sp>
        <p:nvSpPr>
          <p:cNvPr id="18" name="CardTitle 18"/>
          <p:cNvSpPr txBox="1"/>
          <p:nvPr/>
        </p:nvSpPr>
        <p:spPr>
          <a:xfrm>
            <a:off x="6172200" y="158191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Shell commands run through system()</a:t>
            </a:r>
            <a:endParaRPr lang="en-US" sz="1800" dirty="0"/>
          </a:p>
        </p:txBody>
      </p:sp>
      <p:sp>
        <p:nvSpPr>
          <p:cNvPr id="19" name="CardBody 19"/>
          <p:cNvSpPr txBox="1"/>
          <p:nvPr/>
        </p:nvSpPr>
        <p:spPr>
          <a:xfrm>
            <a:off x="6172200" y="2057400"/>
            <a:ext cx="52578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top -bn1 | grep 'Cpu(s)' | awk '{print 100 - $8"%"}'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CPU usage = 100 − idle %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ps -eo pid,comm,state --sort=-pid | head -n 16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Process list (PID, name, state)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ip -br addr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Brief interface / IP addresses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cat /proc/net/dev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Network RX / TX statistics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uname -o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Operating system name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uname -r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Kernel version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hostname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Machine name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whoami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Current user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2EC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who</a:t>
            </a:r>
            <a:endParaRPr lang="en-US" sz="1200" dirty="0"/>
          </a:p>
          <a:p>
            <a:pPr marL="0" indent="0">
              <a:spcBef>
                <a:spcPts val="0"/>
              </a:spcBef>
              <a:spcAft>
                <a:spcPts val="480"/>
              </a:spcAft>
              <a:buNone/>
            </a:pPr>
            <a:r>
              <a:rPr lang="en-US" sz="12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Logged-in users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Diagnostics Toolkit</dc:title>
  <dc:subject>PptxGenJS Presentation</dc:subject>
  <dc:creator>PptxGenJS</dc:creator>
  <cp:lastModifiedBy>PptxGenJS</cp:lastModifiedBy>
  <cp:revision>1</cp:revision>
  <dcterms:created xsi:type="dcterms:W3CDTF">2026-10-06T13:47:43Z</dcterms:created>
  <dcterms:modified xsi:type="dcterms:W3CDTF">2026-10-06T13:47:43Z</dcterms:modified>
</cp:coreProperties>
</file>